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1A5C38">
              <a:alpha val="40000"/>
            </a:srgbClr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2E8B57">
              <a:alpha val="30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WASTE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30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SYSTEM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Sensor Data &amp; Predictive Analytics for Optimised Waste Collection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13716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Nagpur, Maharashtra  |  January 2026  |  Python · scikit-learn · IoT Sensors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42245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43200" y="42245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Bins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0" y="42245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4944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49440" y="42245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Reduction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572768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361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collection schedules ignore real-time fill levels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066544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0299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Overflowing bins cause hygiene &amp; public health issues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560320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52374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trucks collecting near-empty bins wastes fuel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054096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0175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predictive capability — purely reactive operations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54787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51129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route prioritisation by urgency or fill level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83480" y="1572768"/>
            <a:ext cx="164592" cy="16459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15361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sensors measure fill level every 6 hours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83480" y="2066544"/>
            <a:ext cx="164592" cy="16459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20299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predicts fill level 24h in advance per bin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83480" y="2560320"/>
            <a:ext cx="164592" cy="16459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252374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priority scoring replaces fixed schedules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83480" y="3054096"/>
            <a:ext cx="164592" cy="16459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30175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route optimisation — collect only when needed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83480" y="3547872"/>
            <a:ext cx="164592" cy="16459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351129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 flags sensor faults &amp; illegal dumping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651760" cy="100584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69848"/>
            <a:ext cx="265176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43507"/>
            <a:ext cx="2651760" cy="362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55848" y="960120"/>
            <a:ext cx="2651760" cy="100584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5848" y="1069848"/>
            <a:ext cx="265176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55848" y="1543507"/>
            <a:ext cx="2651760" cy="362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IoT bins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54496" y="960120"/>
            <a:ext cx="2651760" cy="100584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4496" y="1069848"/>
            <a:ext cx="265176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54496" y="1543507"/>
            <a:ext cx="2651760" cy="362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columns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2651760" cy="100584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58568"/>
            <a:ext cx="265176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49.7%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2732227"/>
            <a:ext cx="2651760" cy="362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fill level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55848" y="2148840"/>
            <a:ext cx="2651760" cy="100584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2258568"/>
            <a:ext cx="265176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13.3%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355848" y="2732227"/>
            <a:ext cx="2651760" cy="362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 readings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54496" y="2148840"/>
            <a:ext cx="2651760" cy="100584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2258568"/>
            <a:ext cx="265176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54496" y="2732227"/>
            <a:ext cx="2651760" cy="362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Sensor Features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8229600" cy="219456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67588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fill_level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0" y="367588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0–100%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40480" y="3675888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variable — ultrasonic sensor reading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886200"/>
            <a:ext cx="82296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90448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last_collected_hours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60320" y="390448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0–71h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0" y="3904488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since last collection (IoT)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8229600" cy="219456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13308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area_type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60320" y="413308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zones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40480" y="4133088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/ Residential / Industrial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343400"/>
            <a:ext cx="82296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36168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60320" y="436168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states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840480" y="4361688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Sunny / Rainy / Cloudy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572000"/>
            <a:ext cx="8229600" cy="219456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59028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560320" y="459028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types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840480" y="4590288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/ Weekend / Festival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level urgency distribution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042416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146304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(&lt;40%)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91056" y="132588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01368"/>
            <a:ext cx="1459382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01368"/>
            <a:ext cx="1459382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(&lt;70%)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08022" y="180136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76856"/>
            <a:ext cx="486461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76856"/>
            <a:ext cx="146304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(&lt;80%)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35101" y="227685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52344"/>
            <a:ext cx="486461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52344"/>
            <a:ext cx="146304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(&lt;100%)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35101" y="2752344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960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fill level by area type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371600"/>
            <a:ext cx="2690426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371600"/>
            <a:ext cx="2690426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36746" y="13716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54.2%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920240"/>
            <a:ext cx="2372737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920240"/>
            <a:ext cx="2372737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Residential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19057" y="19202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47.8%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468880"/>
            <a:ext cx="2139435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468880"/>
            <a:ext cx="2139435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85755" y="246888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43.1%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246120"/>
            <a:ext cx="8229600" cy="160020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337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EDA Insights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36576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Commercial bins fill 13% faster than residential and 26% faster than industrial zones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4360" y="394106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Festival events spike fill rates by up to 35% above baseline — highest single event impact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94360" y="42245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Rainy weather correlates with +8% higher avg fill vs sunny days (likely waste disposal behaviour)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94360" y="450799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Peak fill rates occur at 8–10 AM and 6–8 PM, matching commute and meal patterns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743200" cy="3108960"/>
          </a:xfrm>
          <a:prstGeom prst="rect">
            <a:avLst/>
          </a:prstGeom>
          <a:solidFill>
            <a:srgbClr val="1A2B1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2743200" cy="5029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Level Regressor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trees, max_depth=12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2468880" cy="36576"/>
          </a:xfrm>
          <a:prstGeom prst="rect">
            <a:avLst/>
          </a:prstGeom>
          <a:solidFill>
            <a:srgbClr val="2E8B57">
              <a:alpha val="50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= 0.94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30175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= 3.87%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960120"/>
            <a:ext cx="2743200" cy="3108960"/>
          </a:xfrm>
          <a:prstGeom prst="rect">
            <a:avLst/>
          </a:prstGeom>
          <a:solidFill>
            <a:srgbClr val="1A2B1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960120"/>
            <a:ext cx="27432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005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15727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 Classifier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1965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estimators, max_depth=5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20440" y="2606040"/>
            <a:ext cx="2468880" cy="36576"/>
          </a:xfrm>
          <a:prstGeom prst="rect">
            <a:avLst/>
          </a:prstGeom>
          <a:solidFill>
            <a:srgbClr val="D97706">
              <a:alpha val="5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&gt; 0.90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20440" y="30175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split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960120"/>
            <a:ext cx="2743200" cy="3108960"/>
          </a:xfrm>
          <a:prstGeom prst="rect">
            <a:avLst/>
          </a:prstGeom>
          <a:solidFill>
            <a:srgbClr val="1A2B1F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960120"/>
            <a:ext cx="2743200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005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15727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 Clustering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46520" y="1965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KMeans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K=3, elbow method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2606040"/>
            <a:ext cx="2468880" cy="36576"/>
          </a:xfrm>
          <a:prstGeom prst="rect">
            <a:avLst/>
          </a:prstGeom>
          <a:solidFill>
            <a:srgbClr val="52B788">
              <a:alpha val="5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risk tiers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46520" y="30175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cluster features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206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steps: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011680" y="4160520"/>
            <a:ext cx="1115568" cy="292608"/>
          </a:xfrm>
          <a:prstGeom prst="rect">
            <a:avLst/>
          </a:prstGeom>
          <a:solidFill>
            <a:srgbClr val="1A2B1F"/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0" y="4160520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Data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154680" y="4178808"/>
            <a:ext cx="109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46120" y="4160520"/>
            <a:ext cx="1115568" cy="292608"/>
          </a:xfrm>
          <a:prstGeom prst="rect">
            <a:avLst/>
          </a:prstGeom>
          <a:solidFill>
            <a:srgbClr val="1A2B1F"/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4160520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389120" y="4178808"/>
            <a:ext cx="109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480560" y="4160520"/>
            <a:ext cx="1115568" cy="292608"/>
          </a:xfrm>
          <a:prstGeom prst="rect">
            <a:avLst/>
          </a:prstGeom>
          <a:solidFill>
            <a:srgbClr val="1A2B1F"/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0" y="4160520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Train/Test Split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23560" y="4178808"/>
            <a:ext cx="109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715000" y="4160520"/>
            <a:ext cx="1115568" cy="292608"/>
          </a:xfrm>
          <a:prstGeom prst="rect">
            <a:avLst/>
          </a:prstGeom>
          <a:solidFill>
            <a:srgbClr val="1A2B1F"/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15000" y="4160520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58000" y="4178808"/>
            <a:ext cx="109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949440" y="4160520"/>
            <a:ext cx="1115568" cy="292608"/>
          </a:xfrm>
          <a:prstGeom prst="rect">
            <a:avLst/>
          </a:prstGeom>
          <a:solidFill>
            <a:srgbClr val="1A2B1F"/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0" y="4160520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Validation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092440" y="4178808"/>
            <a:ext cx="109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183880" y="4160520"/>
            <a:ext cx="1115568" cy="292608"/>
          </a:xfrm>
          <a:prstGeom prst="rect">
            <a:avLst/>
          </a:prstGeom>
          <a:solidFill>
            <a:srgbClr val="1A2B1F"/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83880" y="4160520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&amp; Alert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Score by algorithm (higher = better)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20240" y="1298448"/>
            <a:ext cx="3867912" cy="27432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61304" y="12984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20240" y="1728216"/>
            <a:ext cx="3744468" cy="2743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37860" y="17282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214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20240" y="2157984"/>
            <a:ext cx="3332988" cy="2743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26380" y="21579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55117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20240" y="2587752"/>
            <a:ext cx="3209544" cy="274320"/>
          </a:xfrm>
          <a:prstGeom prst="rect">
            <a:avLst/>
          </a:prstGeom>
          <a:solidFill>
            <a:srgbClr val="7FB89A"/>
          </a:solidFill>
          <a:ln w="12700">
            <a:solidFill>
              <a:srgbClr val="7FB8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02936" y="25877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B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98094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20240" y="3017520"/>
            <a:ext cx="3003804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97196" y="3017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41071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920240" y="3447288"/>
            <a:ext cx="2962656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34472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914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 (Random Forest)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126187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since collection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89520" y="1298448"/>
            <a:ext cx="1303020" cy="27432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5692" y="12984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1691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type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589520" y="1728216"/>
            <a:ext cx="822960" cy="2743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85632" y="17282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0" y="212140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 of day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589520" y="2157984"/>
            <a:ext cx="617220" cy="2743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79892" y="21579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255117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of week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589520" y="2587752"/>
            <a:ext cx="342900" cy="274320"/>
          </a:xfrm>
          <a:prstGeom prst="rect">
            <a:avLst/>
          </a:prstGeom>
          <a:solidFill>
            <a:srgbClr val="7FB89A"/>
          </a:solidFill>
          <a:ln w="12700">
            <a:solidFill>
              <a:srgbClr val="7FB8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05572" y="25877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B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03520" y="298094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89520" y="3017520"/>
            <a:ext cx="20574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8412" y="3017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0" y="34107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type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589520" y="3447288"/>
            <a:ext cx="13716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99832" y="34472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41148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WINNER: Random Forest  |  R² = 0.94  |  MAE = 3.87%  |  5-fold CV stable  |  Selected for production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Optimisation &amp; Priority Scoring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Priority Score (0–100 pts)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411480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73152" cy="77724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624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Level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13624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pts max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7099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(fill / 100) × 50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298448"/>
            <a:ext cx="4114800" cy="777240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298448"/>
            <a:ext cx="73152" cy="7772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3624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Since Collect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60920" y="13624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pts max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17099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min(hours/72, 1) × 20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212848"/>
            <a:ext cx="411480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212848"/>
            <a:ext cx="73152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2768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Condition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22768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pts max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2624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Rainy=15 / Cloudy=8 / Sunny=0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212848"/>
            <a:ext cx="4114800" cy="777240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212848"/>
            <a:ext cx="73152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2768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Event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60920" y="22768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pts max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2624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Festival=15 / Weekend=10 / None=0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Priority Tiers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566160"/>
            <a:ext cx="2011680" cy="123444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9319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≥80% fill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206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immediately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33472" y="3566160"/>
            <a:ext cx="2011680" cy="1234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33472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33472" y="39319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70–80% fill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33472" y="4206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within 6h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9744" y="3566160"/>
            <a:ext cx="2011680" cy="1234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9744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09744" y="39319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40–70% fill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9744" y="4206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next route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86016" y="3566160"/>
            <a:ext cx="2011680" cy="123444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86016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86016" y="39319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&lt;40% fill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86016" y="4206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scheduled run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24-Hour Forecast &amp; Anomaly Detection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24-Hour Fill Level Forecast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iteratively predicts fill levels at +6h, +12h, +18h, +24h horizons for every bin. Bins forecast to reach ≥80% fill are auto-flagged for pre-emptive collection.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868680" cy="61813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63040" y="2057400"/>
            <a:ext cx="868680" cy="760781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192024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63040" y="329184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2057400"/>
            <a:ext cx="868680" cy="8915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92024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329184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2057400"/>
            <a:ext cx="868680" cy="10104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92024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329184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331720"/>
            <a:ext cx="397764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297680" y="223113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 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298448"/>
            <a:ext cx="3840480" cy="8229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13716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Z-score anomaly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16276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|ζ| &gt; 2.5σ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18470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outlier vs bin historical mean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304288"/>
            <a:ext cx="3840480" cy="82296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3774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Rate-of-change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263347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25%/6h window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28529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Sudden spike — dumping or sensor fault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383280"/>
            <a:ext cx="3840480" cy="59436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429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Anomalous readings are excluded from forecasting to prevent model degradation and escalated to sensor health review.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 Behaviour Clustering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KMeans (K=3) on 6 aggregate features per bin — StandardScaler normalised — Elbow method confirms K=3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D8F3DC"/>
          </a:solidFill>
          <a:ln w="15240">
            <a:solidFill>
              <a:srgbClr val="2E8B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91440" cy="10972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618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53619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Low-Risk Slow Fillers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129844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fill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0" y="157276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28.4%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76672" y="129844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 rate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76672" y="157276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38544" y="129844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rate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38544" y="157276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0.48%/hr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00416" y="129844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00416" y="157276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423160"/>
            <a:ext cx="8229600" cy="1097280"/>
          </a:xfrm>
          <a:prstGeom prst="rect">
            <a:avLst/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423160"/>
            <a:ext cx="91440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4963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277063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Medium-Risk Moderate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0" y="253288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fill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0" y="280720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51.7%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76672" y="253288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 rate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76672" y="280720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38544" y="253288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rate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38544" y="280720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1.2%/hr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00416" y="253288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00416" y="280720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Bi-weekly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657600"/>
            <a:ext cx="91440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7307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" y="400507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Fast Fillers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14800" y="37673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fill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0" y="404164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74.2%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76672" y="37673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 rate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76672" y="404164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42.8%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38544" y="37673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rate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38544" y="404164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2.6%/hr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900416" y="37673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900416" y="404164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/ on-demand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A5C38">
              <a:alpha val="30000"/>
            </a:srgbClr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3931920" cy="2194560"/>
          </a:xfrm>
          <a:prstGeom prst="rect">
            <a:avLst/>
          </a:prstGeom>
          <a:solidFill>
            <a:srgbClr val="2B1A1A"/>
          </a:solidFill>
          <a:ln w="12700">
            <a:solidFill>
              <a:srgbClr val="DC5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~1,400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C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trips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 incidents: HIGH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schedule, no priority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Wasted trips: ~60%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60520" y="21031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960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IoT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298448"/>
            <a:ext cx="3931920" cy="2194560"/>
          </a:xfrm>
          <a:prstGeom prst="rect">
            <a:avLst/>
          </a:prstGeom>
          <a:solidFill>
            <a:srgbClr val="0F2B1A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4173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~560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trips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892040" y="22860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 incidents: ZERO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B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Demand-driven, priority-ranked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B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savings: ~60%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2011680" cy="1005840"/>
          </a:xfrm>
          <a:prstGeom prst="rect">
            <a:avLst/>
          </a:prstGeom>
          <a:solidFill>
            <a:srgbClr val="1A2B1F"/>
          </a:solidFill>
          <a:ln w="1016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reduction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33472" y="3794760"/>
            <a:ext cx="2011680" cy="1005840"/>
          </a:xfrm>
          <a:prstGeom prst="rect">
            <a:avLst/>
          </a:prstGeom>
          <a:solidFill>
            <a:srgbClr val="1A2B1F"/>
          </a:solidFill>
          <a:ln w="1016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3472" y="3840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633472" y="4389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 saved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9744" y="3794760"/>
            <a:ext cx="2011680" cy="1005840"/>
          </a:xfrm>
          <a:prstGeom prst="rect">
            <a:avLst/>
          </a:prstGeom>
          <a:solidFill>
            <a:srgbClr val="1A2B1F"/>
          </a:solidFill>
          <a:ln w="10160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3840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809744" y="4389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 events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86016" y="3794760"/>
            <a:ext cx="2011680" cy="1005840"/>
          </a:xfrm>
          <a:prstGeom prst="rect">
            <a:avLst/>
          </a:prstGeom>
          <a:solidFill>
            <a:srgbClr val="1A2B1F"/>
          </a:solidFill>
          <a:ln w="10160">
            <a:solidFill>
              <a:srgbClr val="2E8B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86016" y="3840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24h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986016" y="4389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horizon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2E8B57">
              <a:alpha val="25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 &amp; 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Conclusions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64592" cy="1645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2984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achieves R² = 0.94 — 94% variance explained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164592" cy="1645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556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since collection = strongest predictor (38% importance)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64592" cy="1645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2128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zones are highest overflow risk — need daily monitoring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164592" cy="1645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700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scheduling cuts trips by ~60%, eliminating all overflows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164592" cy="1645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1272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KMeans clustering enables zone-specific collection strategies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Steps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1325880"/>
            <a:ext cx="347472" cy="3200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32588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13258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real-time inference API on live sensor feeds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783080"/>
            <a:ext cx="347472" cy="3200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78308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17830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priority engine with fleet management software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240280"/>
            <a:ext cx="347472" cy="3200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24028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66360" y="22402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GPS-based TSP route optimisation for minimum distance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697480"/>
            <a:ext cx="347472" cy="3200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69748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26974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LSTM/Transformer for multi-step time forecasting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154680"/>
            <a:ext cx="347472" cy="3200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15468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6360" y="31546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city-wide 500+ bins with streaming data pipeline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1A5C3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Waste Management System  |  IoT Predictive Analytics  |  Nagpur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Waste Management System</dc:title>
  <dc:subject>PptxGenJS Presentation</dc:subject>
  <dc:creator>Smart Waste Project</dc:creator>
  <cp:lastModifiedBy>Smart Waste Project</cp:lastModifiedBy>
  <cp:revision>1</cp:revision>
  <dcterms:created xsi:type="dcterms:W3CDTF">2026-04-29T06:56:51Z</dcterms:created>
  <dcterms:modified xsi:type="dcterms:W3CDTF">2026-04-29T06:56:51Z</dcterms:modified>
</cp:coreProperties>
</file>